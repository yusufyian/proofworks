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27.png"/><Relationship Id="rId14" Type="http://schemas.openxmlformats.org/officeDocument/2006/relationships/image" Target="../media/image26.png"/><Relationship Id="rId13" Type="http://schemas.openxmlformats.org/officeDocument/2006/relationships/image" Target="../media/image25.png"/><Relationship Id="rId12" Type="http://schemas.openxmlformats.org/officeDocument/2006/relationships/image" Target="../media/image24.png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1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15.png"/><Relationship Id="rId22" Type="http://schemas.openxmlformats.org/officeDocument/2006/relationships/notesSlide" Target="../notesSlides/notesSlide3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46.png"/><Relationship Id="rId2" Type="http://schemas.openxmlformats.org/officeDocument/2006/relationships/image" Target="../media/image29.png"/><Relationship Id="rId19" Type="http://schemas.openxmlformats.org/officeDocument/2006/relationships/image" Target="../media/image45.png"/><Relationship Id="rId18" Type="http://schemas.openxmlformats.org/officeDocument/2006/relationships/image" Target="../media/image44.png"/><Relationship Id="rId17" Type="http://schemas.openxmlformats.org/officeDocument/2006/relationships/image" Target="../media/image43.png"/><Relationship Id="rId16" Type="http://schemas.openxmlformats.org/officeDocument/2006/relationships/image" Target="../media/image42.png"/><Relationship Id="rId15" Type="http://schemas.openxmlformats.org/officeDocument/2006/relationships/image" Target="../media/image41.png"/><Relationship Id="rId14" Type="http://schemas.openxmlformats.org/officeDocument/2006/relationships/image" Target="../media/image40.png"/><Relationship Id="rId13" Type="http://schemas.openxmlformats.org/officeDocument/2006/relationships/image" Target="../media/image39.png"/><Relationship Id="rId12" Type="http://schemas.openxmlformats.org/officeDocument/2006/relationships/image" Target="../media/image38.png"/><Relationship Id="rId11" Type="http://schemas.openxmlformats.org/officeDocument/2006/relationships/image" Target="../media/image37.png"/><Relationship Id="rId10" Type="http://schemas.openxmlformats.org/officeDocument/2006/relationships/image" Target="../media/image36.png"/><Relationship Id="rId1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image" Target="../media/image53.png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15.png"/><Relationship Id="rId22" Type="http://schemas.openxmlformats.org/officeDocument/2006/relationships/notesSlide" Target="../notesSlides/notesSlide4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65.png"/><Relationship Id="rId2" Type="http://schemas.openxmlformats.org/officeDocument/2006/relationships/image" Target="../media/image48.png"/><Relationship Id="rId19" Type="http://schemas.openxmlformats.org/officeDocument/2006/relationships/image" Target="../media/image64.png"/><Relationship Id="rId18" Type="http://schemas.openxmlformats.org/officeDocument/2006/relationships/image" Target="../media/image63.png"/><Relationship Id="rId17" Type="http://schemas.openxmlformats.org/officeDocument/2006/relationships/image" Target="../media/image62.png"/><Relationship Id="rId16" Type="http://schemas.openxmlformats.org/officeDocument/2006/relationships/image" Target="../media/image61.png"/><Relationship Id="rId15" Type="http://schemas.openxmlformats.org/officeDocument/2006/relationships/image" Target="../media/image60.png"/><Relationship Id="rId14" Type="http://schemas.openxmlformats.org/officeDocument/2006/relationships/image" Target="../media/image59.png"/><Relationship Id="rId13" Type="http://schemas.openxmlformats.org/officeDocument/2006/relationships/image" Target="../media/image58.png"/><Relationship Id="rId12" Type="http://schemas.openxmlformats.org/officeDocument/2006/relationships/image" Target="../media/image57.png"/><Relationship Id="rId11" Type="http://schemas.openxmlformats.org/officeDocument/2006/relationships/image" Target="../media/image56.png"/><Relationship Id="rId10" Type="http://schemas.openxmlformats.org/officeDocument/2006/relationships/image" Target="../media/image55.png"/><Relationship Id="rId1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3.png"/><Relationship Id="rId8" Type="http://schemas.openxmlformats.org/officeDocument/2006/relationships/image" Target="../media/image72.png"/><Relationship Id="rId7" Type="http://schemas.openxmlformats.org/officeDocument/2006/relationships/image" Target="../media/image71.png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3" Type="http://schemas.openxmlformats.org/officeDocument/2006/relationships/image" Target="../media/image15.png"/><Relationship Id="rId2" Type="http://schemas.openxmlformats.org/officeDocument/2006/relationships/image" Target="../media/image67.png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77.png"/><Relationship Id="rId12" Type="http://schemas.openxmlformats.org/officeDocument/2006/relationships/image" Target="../media/image76.png"/><Relationship Id="rId11" Type="http://schemas.openxmlformats.org/officeDocument/2006/relationships/image" Target="../media/image75.png"/><Relationship Id="rId10" Type="http://schemas.openxmlformats.org/officeDocument/2006/relationships/image" Target="../media/image74.png"/><Relationship Id="rId1" Type="http://schemas.openxmlformats.org/officeDocument/2006/relationships/image" Target="../media/image6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6.png"/><Relationship Id="rId8" Type="http://schemas.openxmlformats.org/officeDocument/2006/relationships/image" Target="../media/image85.png"/><Relationship Id="rId7" Type="http://schemas.openxmlformats.org/officeDocument/2006/relationships/image" Target="../media/image84.png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98.png"/><Relationship Id="rId20" Type="http://schemas.openxmlformats.org/officeDocument/2006/relationships/image" Target="../media/image97.png"/><Relationship Id="rId2" Type="http://schemas.openxmlformats.org/officeDocument/2006/relationships/image" Target="../media/image79.png"/><Relationship Id="rId19" Type="http://schemas.openxmlformats.org/officeDocument/2006/relationships/image" Target="../media/image96.png"/><Relationship Id="rId18" Type="http://schemas.openxmlformats.org/officeDocument/2006/relationships/image" Target="../media/image95.png"/><Relationship Id="rId17" Type="http://schemas.openxmlformats.org/officeDocument/2006/relationships/image" Target="../media/image94.png"/><Relationship Id="rId16" Type="http://schemas.openxmlformats.org/officeDocument/2006/relationships/image" Target="../media/image93.png"/><Relationship Id="rId15" Type="http://schemas.openxmlformats.org/officeDocument/2006/relationships/image" Target="../media/image92.png"/><Relationship Id="rId14" Type="http://schemas.openxmlformats.org/officeDocument/2006/relationships/image" Target="../media/image91.png"/><Relationship Id="rId13" Type="http://schemas.openxmlformats.org/officeDocument/2006/relationships/image" Target="../media/image90.png"/><Relationship Id="rId12" Type="http://schemas.openxmlformats.org/officeDocument/2006/relationships/image" Target="../media/image89.png"/><Relationship Id="rId11" Type="http://schemas.openxmlformats.org/officeDocument/2006/relationships/image" Target="../media/image88.png"/><Relationship Id="rId10" Type="http://schemas.openxmlformats.org/officeDocument/2006/relationships/image" Target="../media/image87.png"/><Relationship Id="rId1" Type="http://schemas.openxmlformats.org/officeDocument/2006/relationships/image" Target="../media/image7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png"/><Relationship Id="rId8" Type="http://schemas.openxmlformats.org/officeDocument/2006/relationships/image" Target="../media/image103.png"/><Relationship Id="rId7" Type="http://schemas.openxmlformats.org/officeDocument/2006/relationships/image" Target="../media/image102.png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3" Type="http://schemas.openxmlformats.org/officeDocument/2006/relationships/image" Target="../media/image15.png"/><Relationship Id="rId26" Type="http://schemas.openxmlformats.org/officeDocument/2006/relationships/notesSlide" Target="../notesSlides/notesSlide7.xml"/><Relationship Id="rId25" Type="http://schemas.openxmlformats.org/officeDocument/2006/relationships/slideLayout" Target="../slideLayouts/slideLayout1.xml"/><Relationship Id="rId24" Type="http://schemas.openxmlformats.org/officeDocument/2006/relationships/image" Target="../media/image118.png"/><Relationship Id="rId23" Type="http://schemas.openxmlformats.org/officeDocument/2006/relationships/image" Target="../media/image117.png"/><Relationship Id="rId22" Type="http://schemas.openxmlformats.org/officeDocument/2006/relationships/image" Target="../media/image116.png"/><Relationship Id="rId21" Type="http://schemas.openxmlformats.org/officeDocument/2006/relationships/image" Target="../media/image115.png"/><Relationship Id="rId20" Type="http://schemas.openxmlformats.org/officeDocument/2006/relationships/image" Target="../media/image114.png"/><Relationship Id="rId2" Type="http://schemas.openxmlformats.org/officeDocument/2006/relationships/image" Target="../media/image14.png"/><Relationship Id="rId19" Type="http://schemas.openxmlformats.org/officeDocument/2006/relationships/image" Target="../media/image113.png"/><Relationship Id="rId18" Type="http://schemas.openxmlformats.org/officeDocument/2006/relationships/image" Target="../media/image112.png"/><Relationship Id="rId17" Type="http://schemas.openxmlformats.org/officeDocument/2006/relationships/image" Target="../media/image111.png"/><Relationship Id="rId16" Type="http://schemas.openxmlformats.org/officeDocument/2006/relationships/image" Target="../media/image110.png"/><Relationship Id="rId15" Type="http://schemas.openxmlformats.org/officeDocument/2006/relationships/image" Target="../media/image45.png"/><Relationship Id="rId14" Type="http://schemas.openxmlformats.org/officeDocument/2006/relationships/image" Target="../media/image109.png"/><Relationship Id="rId13" Type="http://schemas.openxmlformats.org/officeDocument/2006/relationships/image" Target="../media/image108.png"/><Relationship Id="rId12" Type="http://schemas.openxmlformats.org/officeDocument/2006/relationships/image" Target="../media/image107.png"/><Relationship Id="rId11" Type="http://schemas.openxmlformats.org/officeDocument/2006/relationships/image" Target="../media/image106.png"/><Relationship Id="rId10" Type="http://schemas.openxmlformats.org/officeDocument/2006/relationships/image" Target="../media/image105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4.png"/><Relationship Id="rId8" Type="http://schemas.openxmlformats.org/officeDocument/2006/relationships/image" Target="../media/image123.png"/><Relationship Id="rId7" Type="http://schemas.openxmlformats.org/officeDocument/2006/relationships/image" Target="../media/image122.png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0"/>
            <a:ext cx="2438400" cy="2133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4419600"/>
            <a:ext cx="1828800" cy="1828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38400"/>
            <a:ext cx="2667000" cy="304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5100" y="1219200"/>
            <a:ext cx="1866900" cy="2133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705600"/>
            <a:ext cx="121920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9075" y="272415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8525" y="2724150"/>
            <a:ext cx="914400" cy="38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9450" y="3290570"/>
            <a:ext cx="1149350" cy="91948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3616" y="369570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8569" y="3695700"/>
            <a:ext cx="40005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45102" y="3695700"/>
            <a:ext cx="457200" cy="4572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-329565" y="1771650"/>
            <a:ext cx="130302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zh-CN" altLang="en-US" sz="4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竞争激烈</a:t>
            </a:r>
            <a:r>
              <a:rPr lang="en-US" sz="4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的时代，</a:t>
            </a:r>
            <a:r>
              <a:rPr lang="zh-CN" altLang="en-US" sz="4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品牌</a:t>
            </a:r>
            <a:r>
              <a:rPr lang="en-US" sz="4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如何赢得信任？</a:t>
            </a:r>
            <a:endParaRPr lang="en-US" sz="4500" dirty="0"/>
          </a:p>
        </p:txBody>
      </p:sp>
      <p:sp>
        <p:nvSpPr>
          <p:cNvPr id="16" name="Text 1"/>
          <p:cNvSpPr/>
          <p:nvPr/>
        </p:nvSpPr>
        <p:spPr>
          <a:xfrm>
            <a:off x="4895850" y="2571750"/>
            <a:ext cx="24003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全链路溯源系统</a:t>
            </a:r>
            <a:endParaRPr lang="en-US" sz="2250" dirty="0"/>
          </a:p>
        </p:txBody>
      </p:sp>
      <p:sp>
        <p:nvSpPr>
          <p:cNvPr id="17" name="Text 2"/>
          <p:cNvSpPr/>
          <p:nvPr/>
        </p:nvSpPr>
        <p:spPr>
          <a:xfrm>
            <a:off x="1706880" y="4819650"/>
            <a:ext cx="877824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基于区块链技术，让您的产品数据不可篡改、永久保存、全程透明</a:t>
            </a:r>
            <a:endParaRPr lang="en-US" sz="1500" dirty="0"/>
          </a:p>
        </p:txBody>
      </p:sp>
      <p:sp>
        <p:nvSpPr>
          <p:cNvPr id="20" name="Text Box 19"/>
          <p:cNvSpPr txBox="1"/>
          <p:nvPr/>
        </p:nvSpPr>
        <p:spPr>
          <a:xfrm>
            <a:off x="10612755" y="6065520"/>
            <a:ext cx="114935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行文科技</a:t>
            </a:r>
            <a:endParaRPr lang="zh-CN" altLang="en-US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345690"/>
            <a:ext cx="2194471" cy="1485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498090"/>
            <a:ext cx="20002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671" y="2345690"/>
            <a:ext cx="2194620" cy="1485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4071" y="249809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8690" y="2345690"/>
            <a:ext cx="2194471" cy="1485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1090" y="249809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5561" y="2345690"/>
            <a:ext cx="2194620" cy="1485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7961" y="249809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92580" y="2345690"/>
            <a:ext cx="2194471" cy="1485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44980" y="2498090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800" y="5867400"/>
            <a:ext cx="11582400" cy="5334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209550"/>
            <a:ext cx="4440019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数据总览：您的"商业驾驶舱"</a:t>
            </a:r>
            <a:endParaRPr lang="en-US" sz="2250" dirty="0"/>
          </a:p>
        </p:txBody>
      </p:sp>
      <p:sp>
        <p:nvSpPr>
          <p:cNvPr id="24" name="Text 1"/>
          <p:cNvSpPr/>
          <p:nvPr/>
        </p:nvSpPr>
        <p:spPr>
          <a:xfrm>
            <a:off x="304800" y="1066800"/>
            <a:ext cx="138988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想象一下，您只需轻轻一点，所有关键数据瞬间跃然屏上，如同拥有了一个能洞察一切的"商业驾驶舱"！</a:t>
            </a:r>
            <a:endParaRPr lang="en-US" sz="1350" dirty="0"/>
          </a:p>
        </p:txBody>
      </p:sp>
      <p:sp>
        <p:nvSpPr>
          <p:cNvPr id="25" name="Text 2"/>
          <p:cNvSpPr/>
          <p:nvPr/>
        </p:nvSpPr>
        <p:spPr>
          <a:xfrm>
            <a:off x="771525" y="2517140"/>
            <a:ext cx="123444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产品档案总数</a:t>
            </a:r>
            <a:endParaRPr lang="en-US" sz="1350" dirty="0"/>
          </a:p>
        </p:txBody>
      </p:sp>
      <p:sp>
        <p:nvSpPr>
          <p:cNvPr id="26" name="Text 3"/>
          <p:cNvSpPr/>
          <p:nvPr/>
        </p:nvSpPr>
        <p:spPr>
          <a:xfrm>
            <a:off x="457200" y="2879090"/>
            <a:ext cx="2267605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实时统计</a:t>
            </a:r>
            <a:endParaRPr lang="en-US" sz="2250" dirty="0"/>
          </a:p>
        </p:txBody>
      </p:sp>
      <p:sp>
        <p:nvSpPr>
          <p:cNvPr id="27" name="Text 4"/>
          <p:cNvSpPr/>
          <p:nvPr/>
        </p:nvSpPr>
        <p:spPr>
          <a:xfrm>
            <a:off x="457200" y="3298190"/>
            <a:ext cx="2267605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让您对产品规模了如指掌</a:t>
            </a:r>
            <a:endParaRPr lang="en-US" sz="1050" dirty="0"/>
          </a:p>
        </p:txBody>
      </p:sp>
      <p:sp>
        <p:nvSpPr>
          <p:cNvPr id="28" name="Text 5"/>
          <p:cNvSpPr/>
          <p:nvPr/>
        </p:nvSpPr>
        <p:spPr>
          <a:xfrm>
            <a:off x="3146971" y="2517140"/>
            <a:ext cx="8229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批次总量</a:t>
            </a:r>
            <a:endParaRPr lang="en-US" sz="1350" dirty="0"/>
          </a:p>
        </p:txBody>
      </p:sp>
      <p:sp>
        <p:nvSpPr>
          <p:cNvPr id="29" name="Text 6"/>
          <p:cNvSpPr/>
          <p:nvPr/>
        </p:nvSpPr>
        <p:spPr>
          <a:xfrm>
            <a:off x="2804071" y="2879090"/>
            <a:ext cx="2267783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唯一身份</a:t>
            </a:r>
            <a:endParaRPr lang="en-US" sz="2250" dirty="0"/>
          </a:p>
        </p:txBody>
      </p:sp>
      <p:sp>
        <p:nvSpPr>
          <p:cNvPr id="30" name="Text 7"/>
          <p:cNvSpPr/>
          <p:nvPr/>
        </p:nvSpPr>
        <p:spPr>
          <a:xfrm>
            <a:off x="2804071" y="3298190"/>
            <a:ext cx="2267783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确保精准管理，井井有条</a:t>
            </a:r>
            <a:endParaRPr lang="en-US" sz="1050" dirty="0"/>
          </a:p>
        </p:txBody>
      </p:sp>
      <p:sp>
        <p:nvSpPr>
          <p:cNvPr id="31" name="Text 8"/>
          <p:cNvSpPr/>
          <p:nvPr/>
        </p:nvSpPr>
        <p:spPr>
          <a:xfrm>
            <a:off x="5493990" y="2517140"/>
            <a:ext cx="123444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流转事件总数</a:t>
            </a:r>
            <a:endParaRPr lang="en-US" sz="1350" dirty="0"/>
          </a:p>
        </p:txBody>
      </p:sp>
      <p:sp>
        <p:nvSpPr>
          <p:cNvPr id="32" name="Text 9"/>
          <p:cNvSpPr/>
          <p:nvPr/>
        </p:nvSpPr>
        <p:spPr>
          <a:xfrm>
            <a:off x="5151090" y="2879090"/>
            <a:ext cx="2267605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区块链记录</a:t>
            </a:r>
            <a:endParaRPr lang="en-US" sz="2250" dirty="0"/>
          </a:p>
        </p:txBody>
      </p:sp>
      <p:sp>
        <p:nvSpPr>
          <p:cNvPr id="33" name="Text 10"/>
          <p:cNvSpPr/>
          <p:nvPr/>
        </p:nvSpPr>
        <p:spPr>
          <a:xfrm>
            <a:off x="5151090" y="3298190"/>
            <a:ext cx="2267605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不可篡改，全程可溯源</a:t>
            </a:r>
            <a:endParaRPr lang="en-US" sz="1050" dirty="0"/>
          </a:p>
        </p:txBody>
      </p:sp>
      <p:sp>
        <p:nvSpPr>
          <p:cNvPr id="34" name="Text 11"/>
          <p:cNvSpPr/>
          <p:nvPr/>
        </p:nvSpPr>
        <p:spPr>
          <a:xfrm>
            <a:off x="7840861" y="2517140"/>
            <a:ext cx="14401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物联网监测数据</a:t>
            </a:r>
            <a:endParaRPr lang="en-US" sz="1350" dirty="0"/>
          </a:p>
        </p:txBody>
      </p:sp>
      <p:sp>
        <p:nvSpPr>
          <p:cNvPr id="35" name="Text 12"/>
          <p:cNvSpPr/>
          <p:nvPr/>
        </p:nvSpPr>
        <p:spPr>
          <a:xfrm>
            <a:off x="7497961" y="2879090"/>
            <a:ext cx="2267783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实时监控</a:t>
            </a:r>
            <a:endParaRPr lang="en-US" sz="2250" dirty="0"/>
          </a:p>
        </p:txBody>
      </p:sp>
      <p:sp>
        <p:nvSpPr>
          <p:cNvPr id="36" name="Text 13"/>
          <p:cNvSpPr/>
          <p:nvPr/>
        </p:nvSpPr>
        <p:spPr>
          <a:xfrm>
            <a:off x="7497961" y="3298190"/>
            <a:ext cx="188982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温度、湿度、位置，数据量级惊人</a:t>
            </a:r>
            <a:endParaRPr lang="en-US" sz="1050" dirty="0"/>
          </a:p>
        </p:txBody>
      </p:sp>
      <p:sp>
        <p:nvSpPr>
          <p:cNvPr id="37" name="Text 14"/>
          <p:cNvSpPr/>
          <p:nvPr/>
        </p:nvSpPr>
        <p:spPr>
          <a:xfrm>
            <a:off x="10187880" y="2517140"/>
            <a:ext cx="14401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进行中召回事件</a:t>
            </a:r>
            <a:endParaRPr lang="en-US" sz="1350" dirty="0"/>
          </a:p>
        </p:txBody>
      </p:sp>
      <p:sp>
        <p:nvSpPr>
          <p:cNvPr id="38" name="Text 15"/>
          <p:cNvSpPr/>
          <p:nvPr/>
        </p:nvSpPr>
        <p:spPr>
          <a:xfrm>
            <a:off x="9844980" y="2872740"/>
            <a:ext cx="2267605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风险预警</a:t>
            </a:r>
            <a:endParaRPr lang="en-US" sz="2250" dirty="0"/>
          </a:p>
        </p:txBody>
      </p:sp>
      <p:sp>
        <p:nvSpPr>
          <p:cNvPr id="39" name="Text 16"/>
          <p:cNvSpPr/>
          <p:nvPr/>
        </p:nvSpPr>
        <p:spPr>
          <a:xfrm>
            <a:off x="9844980" y="3291840"/>
            <a:ext cx="2267605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实时掌控，绝不让问题扩大</a:t>
            </a:r>
            <a:endParaRPr lang="en-US" sz="1050" dirty="0"/>
          </a:p>
        </p:txBody>
      </p:sp>
      <p:sp>
        <p:nvSpPr>
          <p:cNvPr id="45" name="Text 22"/>
          <p:cNvSpPr/>
          <p:nvPr/>
        </p:nvSpPr>
        <p:spPr>
          <a:xfrm>
            <a:off x="457200" y="6019800"/>
            <a:ext cx="11277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决策速度提升10倍！</a:t>
            </a:r>
            <a:r>
              <a:rPr lang="en-US" sz="120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告别数据孤岛，</a:t>
            </a:r>
            <a:r>
              <a:rPr lang="zh-CN" altLang="en-US" sz="120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真实还原数据</a:t>
            </a:r>
            <a:r>
              <a:rPr lang="en-US" sz="120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，</a:t>
            </a:r>
            <a:r>
              <a:rPr lang="zh-CN" altLang="en-US" sz="120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运营</a:t>
            </a:r>
            <a:r>
              <a:rPr lang="en-US" sz="120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效率将飞跃5-10</a:t>
            </a:r>
            <a:r>
              <a:rPr lang="zh-CN" altLang="en-US" sz="120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倍</a:t>
            </a:r>
            <a:r>
              <a:rPr lang="en-US" sz="120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！</a:t>
            </a:r>
            <a:endParaRPr lang="en-US" sz="1200" dirty="0"/>
          </a:p>
        </p:txBody>
      </p:sp>
      <p:pic>
        <p:nvPicPr>
          <p:cNvPr id="46" name="Picture 45" descr="Dashboar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49975" y="4339590"/>
            <a:ext cx="5638165" cy="40659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5258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675" y="3523615"/>
            <a:ext cx="5638800" cy="40862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175" y="6421755"/>
            <a:ext cx="12192000" cy="457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625" y="6574155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8327" y="6574155"/>
            <a:ext cx="190500" cy="1524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381000" y="209550"/>
            <a:ext cx="5468719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产品档案：打造产品的"数字身份证"</a:t>
            </a:r>
            <a:endParaRPr lang="en-US" sz="2250" dirty="0"/>
          </a:p>
        </p:txBody>
      </p:sp>
      <p:sp>
        <p:nvSpPr>
          <p:cNvPr id="27" name="Text 1"/>
          <p:cNvSpPr/>
          <p:nvPr/>
        </p:nvSpPr>
        <p:spPr>
          <a:xfrm>
            <a:off x="495300" y="970915"/>
            <a:ext cx="677799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35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如同</a:t>
            </a:r>
            <a:r>
              <a:rPr lang="en-US" sz="135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一张精美的产品卡片，清晰地呈现在您眼前，每一张都蕴含着产品的"灵魂"：</a:t>
            </a:r>
            <a:endParaRPr lang="en-US" sz="1350" dirty="0"/>
          </a:p>
        </p:txBody>
      </p:sp>
      <p:grpSp>
        <p:nvGrpSpPr>
          <p:cNvPr id="52" name="Group 51"/>
          <p:cNvGrpSpPr/>
          <p:nvPr/>
        </p:nvGrpSpPr>
        <p:grpSpPr>
          <a:xfrm>
            <a:off x="301625" y="1504315"/>
            <a:ext cx="5638800" cy="2819400"/>
            <a:chOff x="480" y="3004"/>
            <a:chExt cx="8880" cy="4440"/>
          </a:xfrm>
        </p:grpSpPr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80" y="3004"/>
              <a:ext cx="8880" cy="4440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80" y="4084"/>
              <a:ext cx="270" cy="420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80" y="4924"/>
              <a:ext cx="300" cy="420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80" y="5764"/>
              <a:ext cx="345" cy="420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80" y="6604"/>
              <a:ext cx="225" cy="420"/>
            </a:xfrm>
            <a:prstGeom prst="rect">
              <a:avLst/>
            </a:prstGeom>
          </p:spPr>
        </p:pic>
        <p:sp>
          <p:nvSpPr>
            <p:cNvPr id="28" name="Text 2"/>
            <p:cNvSpPr/>
            <p:nvPr/>
          </p:nvSpPr>
          <p:spPr>
            <a:xfrm>
              <a:off x="780" y="3304"/>
              <a:ext cx="8280" cy="4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1F2937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产品档案包含：</a:t>
              </a:r>
              <a:endParaRPr lang="en-US" sz="1500" dirty="0"/>
            </a:p>
          </p:txBody>
        </p:sp>
        <p:sp>
          <p:nvSpPr>
            <p:cNvPr id="29" name="Text 3"/>
            <p:cNvSpPr/>
            <p:nvPr/>
          </p:nvSpPr>
          <p:spPr>
            <a:xfrm>
              <a:off x="1230" y="3964"/>
              <a:ext cx="2520" cy="3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产品名称与品牌</a:t>
              </a:r>
              <a:endParaRPr lang="en-US" sz="1200" dirty="0"/>
            </a:p>
          </p:txBody>
        </p:sp>
        <p:sp>
          <p:nvSpPr>
            <p:cNvPr id="30" name="Text 4"/>
            <p:cNvSpPr/>
            <p:nvPr/>
          </p:nvSpPr>
          <p:spPr>
            <a:xfrm>
              <a:off x="1230" y="4324"/>
              <a:ext cx="2520" cy="3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提升品牌形象与专业度</a:t>
              </a:r>
              <a:endParaRPr lang="en-US" sz="1050" dirty="0"/>
            </a:p>
          </p:txBody>
        </p:sp>
        <p:sp>
          <p:nvSpPr>
            <p:cNvPr id="31" name="Text 5"/>
            <p:cNvSpPr/>
            <p:nvPr/>
          </p:nvSpPr>
          <p:spPr>
            <a:xfrm>
              <a:off x="1260" y="4804"/>
              <a:ext cx="2310" cy="3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产品规格</a:t>
              </a:r>
              <a:endParaRPr lang="en-US" sz="1200" dirty="0"/>
            </a:p>
          </p:txBody>
        </p:sp>
        <p:sp>
          <p:nvSpPr>
            <p:cNvPr id="32" name="Text 6"/>
            <p:cNvSpPr/>
            <p:nvPr/>
          </p:nvSpPr>
          <p:spPr>
            <a:xfrm>
              <a:off x="1260" y="5164"/>
              <a:ext cx="2772" cy="3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精确到克的详细规格信息</a:t>
              </a:r>
              <a:endParaRPr lang="en-US" sz="1050" dirty="0"/>
            </a:p>
          </p:txBody>
        </p:sp>
        <p:sp>
          <p:nvSpPr>
            <p:cNvPr id="33" name="Text 7"/>
            <p:cNvSpPr/>
            <p:nvPr/>
          </p:nvSpPr>
          <p:spPr>
            <a:xfrm>
              <a:off x="1305" y="5644"/>
              <a:ext cx="2520" cy="3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生产企业</a:t>
              </a:r>
              <a:endParaRPr lang="en-US" sz="1200" dirty="0"/>
            </a:p>
          </p:txBody>
        </p:sp>
        <p:sp>
          <p:nvSpPr>
            <p:cNvPr id="34" name="Text 8"/>
            <p:cNvSpPr/>
            <p:nvPr/>
          </p:nvSpPr>
          <p:spPr>
            <a:xfrm>
              <a:off x="1305" y="6004"/>
              <a:ext cx="3024" cy="3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明确责任主体，提升公信力</a:t>
              </a:r>
              <a:endParaRPr lang="en-US" sz="1050" dirty="0"/>
            </a:p>
          </p:txBody>
        </p:sp>
        <p:sp>
          <p:nvSpPr>
            <p:cNvPr id="35" name="Text 9"/>
            <p:cNvSpPr/>
            <p:nvPr/>
          </p:nvSpPr>
          <p:spPr>
            <a:xfrm>
              <a:off x="1185" y="6484"/>
              <a:ext cx="2520" cy="3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产地溯源</a:t>
              </a:r>
              <a:endParaRPr lang="en-US" sz="1200" dirty="0"/>
            </a:p>
          </p:txBody>
        </p:sp>
        <p:sp>
          <p:nvSpPr>
            <p:cNvPr id="36" name="Text 10"/>
            <p:cNvSpPr/>
            <p:nvPr/>
          </p:nvSpPr>
          <p:spPr>
            <a:xfrm>
              <a:off x="1185" y="6844"/>
              <a:ext cx="3024" cy="3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精确到市县的地理溯源信息</a:t>
              </a:r>
              <a:endParaRPr lang="en-US" sz="1050" dirty="0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162675" y="1504315"/>
            <a:ext cx="5638800" cy="1752600"/>
            <a:chOff x="9705" y="3004"/>
            <a:chExt cx="8880" cy="2760"/>
          </a:xfrm>
        </p:grpSpPr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705" y="3004"/>
              <a:ext cx="8880" cy="2760"/>
            </a:xfrm>
            <a:prstGeom prst="rect">
              <a:avLst/>
            </a:prstGeom>
          </p:spPr>
        </p:pic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005" y="4930"/>
              <a:ext cx="360" cy="513"/>
            </a:xfrm>
            <a:prstGeom prst="rect">
              <a:avLst/>
            </a:prstGeom>
          </p:spPr>
        </p:pic>
        <p:sp>
          <p:nvSpPr>
            <p:cNvPr id="37" name="Text 11"/>
            <p:cNvSpPr/>
            <p:nvPr/>
          </p:nvSpPr>
          <p:spPr>
            <a:xfrm>
              <a:off x="10005" y="3325"/>
              <a:ext cx="8280" cy="44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1F2937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区块链优势</a:t>
              </a:r>
              <a:endParaRPr lang="en-US" sz="1500" dirty="0"/>
            </a:p>
          </p:txBody>
        </p:sp>
        <p:sp>
          <p:nvSpPr>
            <p:cNvPr id="38" name="Text 12"/>
            <p:cNvSpPr/>
            <p:nvPr/>
          </p:nvSpPr>
          <p:spPr>
            <a:xfrm>
              <a:off x="10005" y="3967"/>
              <a:ext cx="8280" cy="77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每一次的产品创建、修改、更新，都将在区块链上留下不可篡改的记录，形成一条完整的"数字档案链"！</a:t>
              </a:r>
              <a:endParaRPr lang="en-US" sz="1200" dirty="0"/>
            </a:p>
          </p:txBody>
        </p:sp>
        <p:sp>
          <p:nvSpPr>
            <p:cNvPr id="39" name="Text 13"/>
            <p:cNvSpPr/>
            <p:nvPr/>
          </p:nvSpPr>
          <p:spPr>
            <a:xfrm>
              <a:off x="10545" y="4994"/>
              <a:ext cx="7404" cy="38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您的产品信息不仅可信，更是具有法律效力的"数字证据"！</a:t>
              </a:r>
              <a:endParaRPr lang="en-US" sz="1200" dirty="0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263525" y="4465320"/>
            <a:ext cx="5638800" cy="1866900"/>
            <a:chOff x="9840" y="9675"/>
            <a:chExt cx="8880" cy="2940"/>
          </a:xfrm>
        </p:grpSpPr>
        <p:pic>
          <p:nvPicPr>
            <p:cNvPr id="16" name="Image 14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840" y="9675"/>
              <a:ext cx="8880" cy="2940"/>
            </a:xfrm>
            <a:prstGeom prst="rect">
              <a:avLst/>
            </a:prstGeom>
          </p:spPr>
        </p:pic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140" y="10635"/>
              <a:ext cx="2640" cy="1680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1280" y="10875"/>
              <a:ext cx="360" cy="480"/>
            </a:xfrm>
            <a:prstGeom prst="rect">
              <a:avLst/>
            </a:prstGeom>
          </p:spPr>
        </p:pic>
        <p:pic>
          <p:nvPicPr>
            <p:cNvPr id="19" name="Image 17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2960" y="10635"/>
              <a:ext cx="2640" cy="1680"/>
            </a:xfrm>
            <a:prstGeom prst="rect">
              <a:avLst/>
            </a:prstGeom>
          </p:spPr>
        </p:pic>
        <p:pic>
          <p:nvPicPr>
            <p:cNvPr id="20" name="Image 18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4100" y="10875"/>
              <a:ext cx="360" cy="480"/>
            </a:xfrm>
            <a:prstGeom prst="rect">
              <a:avLst/>
            </a:prstGeom>
          </p:spPr>
        </p:pic>
        <p:pic>
          <p:nvPicPr>
            <p:cNvPr id="21" name="Image 19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5780" y="10635"/>
              <a:ext cx="2640" cy="1680"/>
            </a:xfrm>
            <a:prstGeom prst="rect">
              <a:avLst/>
            </a:prstGeom>
          </p:spPr>
        </p:pic>
        <p:pic>
          <p:nvPicPr>
            <p:cNvPr id="22" name="Image 20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6920" y="10875"/>
              <a:ext cx="360" cy="480"/>
            </a:xfrm>
            <a:prstGeom prst="rect">
              <a:avLst/>
            </a:prstGeom>
          </p:spPr>
        </p:pic>
        <p:sp>
          <p:nvSpPr>
            <p:cNvPr id="41" name="Text 15"/>
            <p:cNvSpPr/>
            <p:nvPr/>
          </p:nvSpPr>
          <p:spPr>
            <a:xfrm>
              <a:off x="10140" y="9975"/>
              <a:ext cx="8280" cy="4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1F2937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权威认证标签</a:t>
              </a:r>
              <a:endParaRPr lang="en-US" sz="1500" dirty="0"/>
            </a:p>
          </p:txBody>
        </p:sp>
        <p:sp>
          <p:nvSpPr>
            <p:cNvPr id="42" name="Text 16"/>
            <p:cNvSpPr/>
            <p:nvPr/>
          </p:nvSpPr>
          <p:spPr>
            <a:xfrm>
              <a:off x="10380" y="11475"/>
              <a:ext cx="2160" cy="3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有机认证</a:t>
              </a:r>
              <a:endParaRPr lang="en-US" sz="1200" dirty="0"/>
            </a:p>
          </p:txBody>
        </p:sp>
        <p:sp>
          <p:nvSpPr>
            <p:cNvPr id="43" name="Text 17"/>
            <p:cNvSpPr/>
            <p:nvPr/>
          </p:nvSpPr>
          <p:spPr>
            <a:xfrm>
              <a:off x="10380" y="11835"/>
              <a:ext cx="2160" cy="24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4B556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高品质通行证</a:t>
              </a:r>
              <a:endParaRPr lang="en-US" sz="900" dirty="0"/>
            </a:p>
          </p:txBody>
        </p:sp>
        <p:sp>
          <p:nvSpPr>
            <p:cNvPr id="44" name="Text 18"/>
            <p:cNvSpPr/>
            <p:nvPr/>
          </p:nvSpPr>
          <p:spPr>
            <a:xfrm>
              <a:off x="13200" y="11475"/>
              <a:ext cx="2160" cy="3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绿色食品</a:t>
              </a:r>
              <a:endParaRPr lang="en-US" sz="1200" dirty="0"/>
            </a:p>
          </p:txBody>
        </p:sp>
        <p:sp>
          <p:nvSpPr>
            <p:cNvPr id="45" name="Text 19"/>
            <p:cNvSpPr/>
            <p:nvPr/>
          </p:nvSpPr>
          <p:spPr>
            <a:xfrm>
              <a:off x="13200" y="11835"/>
              <a:ext cx="2160" cy="24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4B556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消费决策因素</a:t>
              </a:r>
              <a:endParaRPr lang="en-US" sz="900" dirty="0"/>
            </a:p>
          </p:txBody>
        </p:sp>
        <p:sp>
          <p:nvSpPr>
            <p:cNvPr id="46" name="Text 20"/>
            <p:cNvSpPr/>
            <p:nvPr/>
          </p:nvSpPr>
          <p:spPr>
            <a:xfrm>
              <a:off x="15804" y="11475"/>
              <a:ext cx="2592" cy="3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无公害认证</a:t>
              </a:r>
              <a:endParaRPr lang="en-US" sz="1200" dirty="0"/>
            </a:p>
          </p:txBody>
        </p:sp>
        <p:sp>
          <p:nvSpPr>
            <p:cNvPr id="47" name="Text 21"/>
            <p:cNvSpPr/>
            <p:nvPr/>
          </p:nvSpPr>
          <p:spPr>
            <a:xfrm>
              <a:off x="16020" y="11835"/>
              <a:ext cx="2160" cy="24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4B556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食品安全承诺</a:t>
              </a:r>
              <a:endParaRPr lang="en-US" sz="900" dirty="0"/>
            </a:p>
          </p:txBody>
        </p:sp>
      </p:grpSp>
      <p:sp>
        <p:nvSpPr>
          <p:cNvPr id="48" name="Text 22"/>
          <p:cNvSpPr/>
          <p:nvPr/>
        </p:nvSpPr>
        <p:spPr>
          <a:xfrm>
            <a:off x="530225" y="6536055"/>
            <a:ext cx="582001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只需点击"新增产品档案"按钮，即可轻松添加新产品，效率提升100%！</a:t>
            </a:r>
            <a:endParaRPr lang="en-US" sz="1200" dirty="0"/>
          </a:p>
        </p:txBody>
      </p:sp>
      <p:sp>
        <p:nvSpPr>
          <p:cNvPr id="49" name="Text 23"/>
          <p:cNvSpPr/>
          <p:nvPr/>
        </p:nvSpPr>
        <p:spPr>
          <a:xfrm>
            <a:off x="9185027" y="6536055"/>
            <a:ext cx="323879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产品信息即刻成为不可篡改的"数字证据"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972300"/>
          </a:xfrm>
          <a:prstGeom prst="rect">
            <a:avLst/>
          </a:prstGeom>
        </p:spPr>
      </p:pic>
      <p:pic>
        <p:nvPicPr>
          <p:cNvPr id="3" name="Image 1" descr="preencoded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97055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868805"/>
            <a:ext cx="5676900" cy="800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116455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2821305"/>
            <a:ext cx="5676900" cy="1028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183255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4002405"/>
            <a:ext cx="5676900" cy="800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250055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5031105"/>
            <a:ext cx="5676900" cy="1104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5350" y="3907155"/>
            <a:ext cx="8714105" cy="4573905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209550"/>
            <a:ext cx="5468719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批次管控：精细到极致的"上帝视角"</a:t>
            </a:r>
            <a:endParaRPr lang="en-US" sz="2250" dirty="0"/>
          </a:p>
        </p:txBody>
      </p:sp>
      <p:sp>
        <p:nvSpPr>
          <p:cNvPr id="24" name="Text 1"/>
          <p:cNvSpPr/>
          <p:nvPr/>
        </p:nvSpPr>
        <p:spPr>
          <a:xfrm>
            <a:off x="304800" y="1066800"/>
            <a:ext cx="1037336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掌控全局的"大智慧"！我们的全链路溯源系统，为您提供了精细到极致的批次管控能力，让您拥有对产品全生命周期的"上帝视角"！</a:t>
            </a:r>
            <a:endParaRPr lang="en-US" sz="1350" dirty="0"/>
          </a:p>
        </p:txBody>
      </p:sp>
      <p:sp>
        <p:nvSpPr>
          <p:cNvPr id="25" name="Text 2"/>
          <p:cNvSpPr/>
          <p:nvPr/>
        </p:nvSpPr>
        <p:spPr>
          <a:xfrm>
            <a:off x="800100" y="2021205"/>
            <a:ext cx="4267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批次质量检测报告</a:t>
            </a:r>
            <a:endParaRPr lang="en-US" sz="1350" dirty="0"/>
          </a:p>
        </p:txBody>
      </p:sp>
      <p:sp>
        <p:nvSpPr>
          <p:cNvPr id="26" name="Text 3"/>
          <p:cNvSpPr/>
          <p:nvPr/>
        </p:nvSpPr>
        <p:spPr>
          <a:xfrm>
            <a:off x="800100" y="2287905"/>
            <a:ext cx="51206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每一批产品都附带完整的质量检测报告，已上链存证，不可篡改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800100" y="2973705"/>
            <a:ext cx="5029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一键溯源查询</a:t>
            </a:r>
            <a:endParaRPr lang="en-US" sz="1350" dirty="0"/>
          </a:p>
        </p:txBody>
      </p:sp>
      <p:sp>
        <p:nvSpPr>
          <p:cNvPr id="28" name="Text 5"/>
          <p:cNvSpPr/>
          <p:nvPr/>
        </p:nvSpPr>
        <p:spPr>
          <a:xfrm>
            <a:off x="800100" y="3240405"/>
            <a:ext cx="5029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点击"查看溯源"按钮，瞬间穿越时空，了解产品从原材料到销售的每一个环节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800100" y="4154805"/>
            <a:ext cx="4744194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智能状态筛选</a:t>
            </a:r>
            <a:endParaRPr lang="en-US" sz="1350" dirty="0"/>
          </a:p>
        </p:txBody>
      </p:sp>
      <p:sp>
        <p:nvSpPr>
          <p:cNvPr id="30" name="Text 7"/>
          <p:cNvSpPr/>
          <p:nvPr/>
        </p:nvSpPr>
        <p:spPr>
          <a:xfrm>
            <a:off x="800100" y="4421505"/>
            <a:ext cx="569303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支持按"合格"、"待检"、"召回中"等状态一键筛选，告别大海捞针式查找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457200" y="5183505"/>
            <a:ext cx="53721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核心价值</a:t>
            </a:r>
            <a:endParaRPr lang="en-US" sz="1350" dirty="0"/>
          </a:p>
        </p:txBody>
      </p:sp>
      <p:sp>
        <p:nvSpPr>
          <p:cNvPr id="32" name="Text 9"/>
          <p:cNvSpPr/>
          <p:nvPr/>
        </p:nvSpPr>
        <p:spPr>
          <a:xfrm>
            <a:off x="457200" y="5526405"/>
            <a:ext cx="53721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告别繁琐的手工记录和低效的查找！我们的系统让您的批次管理变得井然有序，让您的品控能力提升</a:t>
            </a:r>
            <a:r>
              <a:rPr lang="en-US" sz="1200" b="1" dirty="0">
                <a:solidFill>
                  <a:srgbClr val="4CAF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10倍</a:t>
            </a:r>
            <a:r>
              <a:rPr lang="en-US" sz="120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，风险响应速度提升</a:t>
            </a:r>
            <a:r>
              <a:rPr lang="en-US" sz="1200" b="1" dirty="0">
                <a:solidFill>
                  <a:srgbClr val="4CAF5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100倍</a:t>
            </a:r>
            <a:r>
              <a:rPr lang="en-US" sz="120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！</a:t>
            </a:r>
            <a:endParaRPr lang="en-US" sz="1200" dirty="0"/>
          </a:p>
        </p:txBody>
      </p:sp>
      <p:grpSp>
        <p:nvGrpSpPr>
          <p:cNvPr id="43" name="Group 42"/>
          <p:cNvGrpSpPr/>
          <p:nvPr/>
        </p:nvGrpSpPr>
        <p:grpSpPr>
          <a:xfrm>
            <a:off x="6225540" y="1868805"/>
            <a:ext cx="5676900" cy="1828800"/>
            <a:chOff x="9780" y="7620"/>
            <a:chExt cx="8940" cy="2880"/>
          </a:xfrm>
        </p:grpSpPr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780" y="7620"/>
              <a:ext cx="8940" cy="2880"/>
            </a:xfrm>
            <a:prstGeom prst="rect">
              <a:avLst/>
            </a:prstGeom>
          </p:spPr>
        </p:pic>
        <p:pic>
          <p:nvPicPr>
            <p:cNvPr id="15" name="Image 13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080" y="8520"/>
              <a:ext cx="720" cy="720"/>
            </a:xfrm>
            <a:prstGeom prst="rect">
              <a:avLst/>
            </a:prstGeom>
          </p:spPr>
        </p:pic>
        <p:pic>
          <p:nvPicPr>
            <p:cNvPr id="16" name="Image 14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305" y="8670"/>
              <a:ext cx="270" cy="420"/>
            </a:xfrm>
            <a:prstGeom prst="rect">
              <a:avLst/>
            </a:prstGeom>
          </p:spPr>
        </p:pic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370" y="8520"/>
              <a:ext cx="720" cy="720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4580" y="8670"/>
              <a:ext cx="300" cy="420"/>
            </a:xfrm>
            <a:prstGeom prst="rect">
              <a:avLst/>
            </a:prstGeom>
          </p:spPr>
        </p:pic>
        <p:pic>
          <p:nvPicPr>
            <p:cNvPr id="19" name="Image 17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080" y="9480"/>
              <a:ext cx="720" cy="720"/>
            </a:xfrm>
            <a:prstGeom prst="rect">
              <a:avLst/>
            </a:prstGeom>
          </p:spPr>
        </p:pic>
        <p:pic>
          <p:nvPicPr>
            <p:cNvPr id="20" name="Image 18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290" y="9630"/>
              <a:ext cx="300" cy="420"/>
            </a:xfrm>
            <a:prstGeom prst="rect">
              <a:avLst/>
            </a:prstGeom>
          </p:spPr>
        </p:pic>
        <p:pic>
          <p:nvPicPr>
            <p:cNvPr id="21" name="Image 19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4370" y="9480"/>
              <a:ext cx="720" cy="720"/>
            </a:xfrm>
            <a:prstGeom prst="rect">
              <a:avLst/>
            </a:prstGeom>
          </p:spPr>
        </p:pic>
        <p:pic>
          <p:nvPicPr>
            <p:cNvPr id="22" name="Image 20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4618" y="9630"/>
              <a:ext cx="225" cy="420"/>
            </a:xfrm>
            <a:prstGeom prst="rect">
              <a:avLst/>
            </a:prstGeom>
          </p:spPr>
        </p:pic>
        <p:sp>
          <p:nvSpPr>
            <p:cNvPr id="34" name="Text 11"/>
            <p:cNvSpPr/>
            <p:nvPr/>
          </p:nvSpPr>
          <p:spPr>
            <a:xfrm>
              <a:off x="10080" y="7920"/>
              <a:ext cx="8340" cy="4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374151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区块链加持的批次管控优势</a:t>
              </a:r>
              <a:endParaRPr lang="en-US" sz="1350" dirty="0"/>
            </a:p>
          </p:txBody>
        </p:sp>
        <p:sp>
          <p:nvSpPr>
            <p:cNvPr id="35" name="Text 12"/>
            <p:cNvSpPr/>
            <p:nvPr/>
          </p:nvSpPr>
          <p:spPr>
            <a:xfrm>
              <a:off x="10980" y="8550"/>
              <a:ext cx="2730" cy="3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不可篡改</a:t>
              </a:r>
              <a:endParaRPr lang="en-US" sz="1200" dirty="0"/>
            </a:p>
          </p:txBody>
        </p:sp>
        <p:sp>
          <p:nvSpPr>
            <p:cNvPr id="36" name="Text 13"/>
            <p:cNvSpPr/>
            <p:nvPr/>
          </p:nvSpPr>
          <p:spPr>
            <a:xfrm>
              <a:off x="10980" y="8910"/>
              <a:ext cx="3276" cy="3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区块链交易哈希确保数据安全</a:t>
              </a:r>
              <a:endParaRPr lang="en-US" sz="1050" dirty="0"/>
            </a:p>
          </p:txBody>
        </p:sp>
        <p:sp>
          <p:nvSpPr>
            <p:cNvPr id="37" name="Text 14"/>
            <p:cNvSpPr/>
            <p:nvPr/>
          </p:nvSpPr>
          <p:spPr>
            <a:xfrm>
              <a:off x="15270" y="8550"/>
              <a:ext cx="2520" cy="3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全程溯源</a:t>
              </a:r>
              <a:endParaRPr lang="en-US" sz="1200" dirty="0"/>
            </a:p>
          </p:txBody>
        </p:sp>
        <p:sp>
          <p:nvSpPr>
            <p:cNvPr id="38" name="Text 15"/>
            <p:cNvSpPr/>
            <p:nvPr/>
          </p:nvSpPr>
          <p:spPr>
            <a:xfrm>
              <a:off x="15270" y="8910"/>
              <a:ext cx="3024" cy="3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从原材料到销售的完整链条</a:t>
              </a:r>
              <a:endParaRPr lang="en-US" sz="1050" dirty="0"/>
            </a:p>
          </p:txBody>
        </p:sp>
        <p:sp>
          <p:nvSpPr>
            <p:cNvPr id="39" name="Text 16"/>
            <p:cNvSpPr/>
            <p:nvPr/>
          </p:nvSpPr>
          <p:spPr>
            <a:xfrm>
              <a:off x="10980" y="9510"/>
              <a:ext cx="2100" cy="3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责任明确</a:t>
              </a:r>
              <a:endParaRPr lang="en-US" sz="1200" dirty="0"/>
            </a:p>
          </p:txBody>
        </p:sp>
        <p:sp>
          <p:nvSpPr>
            <p:cNvPr id="40" name="Text 17"/>
            <p:cNvSpPr/>
            <p:nvPr/>
          </p:nvSpPr>
          <p:spPr>
            <a:xfrm>
              <a:off x="10980" y="9870"/>
              <a:ext cx="2520" cy="3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每个环节责任主体清晰</a:t>
              </a:r>
              <a:endParaRPr lang="en-US" sz="1050" dirty="0"/>
            </a:p>
          </p:txBody>
        </p:sp>
        <p:sp>
          <p:nvSpPr>
            <p:cNvPr id="41" name="Text 18"/>
            <p:cNvSpPr/>
            <p:nvPr/>
          </p:nvSpPr>
          <p:spPr>
            <a:xfrm>
              <a:off x="15270" y="9510"/>
              <a:ext cx="2157" cy="3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效率提升</a:t>
              </a:r>
              <a:endParaRPr lang="en-US" sz="1200" dirty="0"/>
            </a:p>
          </p:txBody>
        </p:sp>
        <p:sp>
          <p:nvSpPr>
            <p:cNvPr id="42" name="Text 19"/>
            <p:cNvSpPr/>
            <p:nvPr/>
          </p:nvSpPr>
          <p:spPr>
            <a:xfrm>
              <a:off x="15270" y="9870"/>
              <a:ext cx="2157" cy="3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管理效率飞跃100%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943100"/>
            <a:ext cx="4756100" cy="1219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09550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3314700"/>
            <a:ext cx="4756100" cy="1219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46710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4686300"/>
            <a:ext cx="4756100" cy="1219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838700"/>
            <a:ext cx="142875" cy="2667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381000" y="209550"/>
            <a:ext cx="48006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溯源查询：一码到底，引爆信任</a:t>
            </a:r>
            <a:endParaRPr lang="en-US" sz="2250" dirty="0"/>
          </a:p>
        </p:txBody>
      </p:sp>
      <p:sp>
        <p:nvSpPr>
          <p:cNvPr id="31" name="Text 1"/>
          <p:cNvSpPr/>
          <p:nvPr/>
        </p:nvSpPr>
        <p:spPr>
          <a:xfrm>
            <a:off x="228600" y="990600"/>
            <a:ext cx="570732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一码在手，产品全貌尽在掌握</a:t>
            </a:r>
            <a:endParaRPr lang="en-US" sz="1500" dirty="0"/>
          </a:p>
        </p:txBody>
      </p:sp>
      <p:sp>
        <p:nvSpPr>
          <p:cNvPr id="32" name="Text 2"/>
          <p:cNvSpPr/>
          <p:nvPr/>
        </p:nvSpPr>
        <p:spPr>
          <a:xfrm>
            <a:off x="228600" y="1333500"/>
            <a:ext cx="930783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通过强大的一码查询功能，任何人都能在瞬间获取产品的核心信息，建立牢不可破的信任</a:t>
            </a:r>
            <a:endParaRPr lang="en-US" sz="1200" dirty="0"/>
          </a:p>
        </p:txBody>
      </p:sp>
      <p:sp>
        <p:nvSpPr>
          <p:cNvPr id="33" name="Text 3"/>
          <p:cNvSpPr/>
          <p:nvPr/>
        </p:nvSpPr>
        <p:spPr>
          <a:xfrm>
            <a:off x="685800" y="2095500"/>
            <a:ext cx="8229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产品信息</a:t>
            </a:r>
            <a:endParaRPr lang="en-US" sz="1350" dirty="0"/>
          </a:p>
        </p:txBody>
      </p:sp>
      <p:sp>
        <p:nvSpPr>
          <p:cNvPr id="34" name="Text 4"/>
          <p:cNvSpPr/>
          <p:nvPr/>
        </p:nvSpPr>
        <p:spPr>
          <a:xfrm>
            <a:off x="495300" y="2438400"/>
            <a:ext cx="4337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产品名称、规格、生产企业</a:t>
            </a:r>
            <a:endParaRPr lang="en-US" sz="1050" dirty="0"/>
          </a:p>
        </p:txBody>
      </p:sp>
      <p:sp>
        <p:nvSpPr>
          <p:cNvPr id="35" name="Text 5"/>
          <p:cNvSpPr/>
          <p:nvPr/>
        </p:nvSpPr>
        <p:spPr>
          <a:xfrm>
            <a:off x="495300" y="2628900"/>
            <a:ext cx="4337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品牌、品类、精准到市县的产地溯源</a:t>
            </a:r>
            <a:endParaRPr lang="en-US" sz="1050" dirty="0"/>
          </a:p>
        </p:txBody>
      </p:sp>
      <p:sp>
        <p:nvSpPr>
          <p:cNvPr id="36" name="Text 6"/>
          <p:cNvSpPr/>
          <p:nvPr/>
        </p:nvSpPr>
        <p:spPr>
          <a:xfrm>
            <a:off x="495300" y="2819400"/>
            <a:ext cx="5204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权威认证标签：有机认证、绿色食品、无公害认证</a:t>
            </a:r>
            <a:endParaRPr lang="en-US" sz="1050" dirty="0"/>
          </a:p>
        </p:txBody>
      </p:sp>
      <p:sp>
        <p:nvSpPr>
          <p:cNvPr id="37" name="Text 7"/>
          <p:cNvSpPr/>
          <p:nvPr/>
        </p:nvSpPr>
        <p:spPr>
          <a:xfrm>
            <a:off x="685800" y="3467100"/>
            <a:ext cx="8229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批次信息</a:t>
            </a:r>
            <a:endParaRPr lang="en-US" sz="1350" dirty="0"/>
          </a:p>
        </p:txBody>
      </p:sp>
      <p:sp>
        <p:nvSpPr>
          <p:cNvPr id="38" name="Text 8"/>
          <p:cNvSpPr/>
          <p:nvPr/>
        </p:nvSpPr>
        <p:spPr>
          <a:xfrm>
            <a:off x="495300" y="3810000"/>
            <a:ext cx="4337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批次号、数量、生产日期、保质期</a:t>
            </a:r>
            <a:endParaRPr lang="en-US" sz="1050" dirty="0"/>
          </a:p>
        </p:txBody>
      </p:sp>
      <p:sp>
        <p:nvSpPr>
          <p:cNvPr id="39" name="Text 9"/>
          <p:cNvSpPr/>
          <p:nvPr/>
        </p:nvSpPr>
        <p:spPr>
          <a:xfrm>
            <a:off x="495300" y="4000500"/>
            <a:ext cx="4337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状态（合格！）一目了然</a:t>
            </a:r>
            <a:endParaRPr lang="en-US" sz="1050" dirty="0"/>
          </a:p>
        </p:txBody>
      </p:sp>
      <p:sp>
        <p:nvSpPr>
          <p:cNvPr id="40" name="Text 10"/>
          <p:cNvSpPr/>
          <p:nvPr/>
        </p:nvSpPr>
        <p:spPr>
          <a:xfrm>
            <a:off x="495300" y="4191000"/>
            <a:ext cx="5204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让消费者对产品的"新鲜度"和"安全性"了如指掌</a:t>
            </a:r>
            <a:endParaRPr lang="en-US" sz="1050" dirty="0"/>
          </a:p>
        </p:txBody>
      </p:sp>
      <p:sp>
        <p:nvSpPr>
          <p:cNvPr id="41" name="Text 11"/>
          <p:cNvSpPr/>
          <p:nvPr/>
        </p:nvSpPr>
        <p:spPr>
          <a:xfrm>
            <a:off x="638175" y="4838700"/>
            <a:ext cx="123444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质量检测报告</a:t>
            </a:r>
            <a:endParaRPr lang="en-US" sz="1350" dirty="0"/>
          </a:p>
        </p:txBody>
      </p:sp>
      <p:sp>
        <p:nvSpPr>
          <p:cNvPr id="42" name="Text 12"/>
          <p:cNvSpPr/>
          <p:nvPr/>
        </p:nvSpPr>
        <p:spPr>
          <a:xfrm>
            <a:off x="495300" y="5181600"/>
            <a:ext cx="5204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"农残检测：未检出！"、"微生物检测：合格！"</a:t>
            </a:r>
            <a:endParaRPr lang="en-US" sz="1050" dirty="0"/>
          </a:p>
        </p:txBody>
      </p:sp>
      <p:sp>
        <p:nvSpPr>
          <p:cNvPr id="43" name="Text 13"/>
          <p:cNvSpPr/>
          <p:nvPr/>
        </p:nvSpPr>
        <p:spPr>
          <a:xfrm>
            <a:off x="495300" y="5372100"/>
            <a:ext cx="5204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检测机构、报告编号、检测日期公开透明</a:t>
            </a:r>
            <a:endParaRPr lang="en-US" sz="1050" dirty="0"/>
          </a:p>
        </p:txBody>
      </p:sp>
      <p:sp>
        <p:nvSpPr>
          <p:cNvPr id="44" name="Text 14"/>
          <p:cNvSpPr/>
          <p:nvPr/>
        </p:nvSpPr>
        <p:spPr>
          <a:xfrm>
            <a:off x="495300" y="5562600"/>
            <a:ext cx="5204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所有报告记录在区块链上，拥有唯一交易哈希</a:t>
            </a:r>
            <a:endParaRPr lang="en-US" sz="1050" dirty="0"/>
          </a:p>
        </p:txBody>
      </p:sp>
      <p:sp>
        <p:nvSpPr>
          <p:cNvPr id="73" name="Text 43"/>
          <p:cNvSpPr/>
          <p:nvPr/>
        </p:nvSpPr>
        <p:spPr>
          <a:xfrm>
            <a:off x="114300" y="6521450"/>
            <a:ext cx="11963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不仅仅是数据，</a:t>
            </a:r>
            <a:r>
              <a:rPr lang="en-US" sz="120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这是您品牌最坚实的信任基石，是您在市场竞争中无往不胜的"信任引擎"！</a:t>
            </a:r>
            <a:endParaRPr lang="en-US" sz="1200" dirty="0"/>
          </a:p>
        </p:txBody>
      </p:sp>
      <p:pic>
        <p:nvPicPr>
          <p:cNvPr id="92" name="Picture 91" descr="Trace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7010" y="1943100"/>
            <a:ext cx="6607175" cy="5172075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407150"/>
            <a:ext cx="12192000" cy="4572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62840" y="6064250"/>
            <a:ext cx="2138660" cy="609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77140" y="6197600"/>
            <a:ext cx="190500" cy="152400"/>
          </a:xfrm>
          <a:prstGeom prst="rect">
            <a:avLst/>
          </a:prstGeom>
        </p:spPr>
      </p:pic>
      <p:sp>
        <p:nvSpPr>
          <p:cNvPr id="71" name="Text 41"/>
          <p:cNvSpPr/>
          <p:nvPr/>
        </p:nvSpPr>
        <p:spPr>
          <a:xfrm>
            <a:off x="10243840" y="6178550"/>
            <a:ext cx="11201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区块链技术支撑</a:t>
            </a:r>
            <a:endParaRPr lang="en-US" sz="1050" dirty="0"/>
          </a:p>
        </p:txBody>
      </p:sp>
      <p:sp>
        <p:nvSpPr>
          <p:cNvPr id="72" name="Text 42"/>
          <p:cNvSpPr/>
          <p:nvPr/>
        </p:nvSpPr>
        <p:spPr>
          <a:xfrm>
            <a:off x="9977140" y="6407150"/>
            <a:ext cx="2292072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每个环节都留下不可篡改的"数字指纹"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819910"/>
            <a:ext cx="4495800" cy="952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14376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2924810"/>
            <a:ext cx="4495800" cy="762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153410"/>
            <a:ext cx="25717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3839210"/>
            <a:ext cx="4495800" cy="762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06781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4829810"/>
            <a:ext cx="4495800" cy="990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00375" y="4563110"/>
            <a:ext cx="11005820" cy="458597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381000" y="209550"/>
            <a:ext cx="5811619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召回管控：化危机为转机的"超级武器"</a:t>
            </a:r>
            <a:endParaRPr lang="en-US" sz="2250" dirty="0"/>
          </a:p>
        </p:txBody>
      </p:sp>
      <p:sp>
        <p:nvSpPr>
          <p:cNvPr id="28" name="Text 1"/>
          <p:cNvSpPr/>
          <p:nvPr/>
        </p:nvSpPr>
        <p:spPr>
          <a:xfrm>
            <a:off x="304800" y="1066800"/>
            <a:ext cx="11450955" cy="61277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当产品出现问题需要召回时，传统流程是怎样的噩梦？信息散乱、查找困难、效率低下。我们的全链路溯源系统，是您化危机为转机的"超级武器"！</a:t>
            </a:r>
            <a:endParaRPr lang="en-US" sz="1350" dirty="0"/>
          </a:p>
        </p:txBody>
      </p:sp>
      <p:sp>
        <p:nvSpPr>
          <p:cNvPr id="29" name="Text 2"/>
          <p:cNvSpPr/>
          <p:nvPr/>
        </p:nvSpPr>
        <p:spPr>
          <a:xfrm>
            <a:off x="800100" y="1972310"/>
            <a:ext cx="38481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快速精准定位</a:t>
            </a:r>
            <a:endParaRPr lang="en-US" sz="1350" dirty="0"/>
          </a:p>
        </p:txBody>
      </p:sp>
      <p:sp>
        <p:nvSpPr>
          <p:cNvPr id="30" name="Text 3"/>
          <p:cNvSpPr/>
          <p:nvPr/>
        </p:nvSpPr>
        <p:spPr>
          <a:xfrm>
            <a:off x="800100" y="2239010"/>
            <a:ext cx="38481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智能筛选器根据风险等级和状态迅速锁定召回事件，决策速度提升十倍！</a:t>
            </a:r>
            <a:endParaRPr lang="en-US" sz="1050" dirty="0"/>
          </a:p>
        </p:txBody>
      </p:sp>
      <p:sp>
        <p:nvSpPr>
          <p:cNvPr id="31" name="Text 4"/>
          <p:cNvSpPr/>
          <p:nvPr/>
        </p:nvSpPr>
        <p:spPr>
          <a:xfrm>
            <a:off x="828675" y="3077210"/>
            <a:ext cx="3295204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全球召回分布</a:t>
            </a:r>
            <a:endParaRPr lang="en-US" sz="1350" dirty="0"/>
          </a:p>
        </p:txBody>
      </p:sp>
      <p:sp>
        <p:nvSpPr>
          <p:cNvPr id="32" name="Text 5"/>
          <p:cNvSpPr/>
          <p:nvPr/>
        </p:nvSpPr>
        <p:spPr>
          <a:xfrm>
            <a:off x="828675" y="3343910"/>
            <a:ext cx="3954244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精准定位全球每一个角落的问题产品，杜绝"漏网之鱼"！</a:t>
            </a:r>
            <a:endParaRPr lang="en-US" sz="1050" dirty="0"/>
          </a:p>
        </p:txBody>
      </p:sp>
      <p:sp>
        <p:nvSpPr>
          <p:cNvPr id="33" name="Text 6"/>
          <p:cNvSpPr/>
          <p:nvPr/>
        </p:nvSpPr>
        <p:spPr>
          <a:xfrm>
            <a:off x="800100" y="3991610"/>
            <a:ext cx="3561904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区块链召回链</a:t>
            </a:r>
            <a:endParaRPr lang="en-US" sz="1350" dirty="0"/>
          </a:p>
        </p:txBody>
      </p:sp>
      <p:sp>
        <p:nvSpPr>
          <p:cNvPr id="34" name="Text 7"/>
          <p:cNvSpPr/>
          <p:nvPr/>
        </p:nvSpPr>
        <p:spPr>
          <a:xfrm>
            <a:off x="800100" y="4231640"/>
            <a:ext cx="4274284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所有操作形成不可篡改的"召回事件链"，过程透明、可审计！</a:t>
            </a:r>
            <a:endParaRPr lang="en-US" sz="1050" dirty="0"/>
          </a:p>
        </p:txBody>
      </p:sp>
      <p:sp>
        <p:nvSpPr>
          <p:cNvPr id="35" name="Text 8"/>
          <p:cNvSpPr/>
          <p:nvPr/>
        </p:nvSpPr>
        <p:spPr>
          <a:xfrm>
            <a:off x="457200" y="4982210"/>
            <a:ext cx="4191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传统召回可能需要几天甚至几周，而有了我们的系统，您可以在短短几小时内实现精准定位和高效回收，将品牌损失降到最低，甚至化危机为转机！</a:t>
            </a:r>
            <a:endParaRPr lang="en-US" sz="1200" dirty="0"/>
          </a:p>
        </p:txBody>
      </p:sp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4285" y="1817370"/>
            <a:ext cx="6858000" cy="255460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7235" y="242697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50585" y="252222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6510" y="2712720"/>
            <a:ext cx="952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93835" y="2426970"/>
            <a:ext cx="45720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27185" y="252222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13110" y="2712720"/>
            <a:ext cx="952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17235" y="3227070"/>
            <a:ext cx="457200" cy="457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27090" y="3322320"/>
            <a:ext cx="238125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6510" y="3512820"/>
            <a:ext cx="952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93835" y="3227070"/>
            <a:ext cx="457200" cy="457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27185" y="3322320"/>
            <a:ext cx="190500" cy="266700"/>
          </a:xfrm>
          <a:prstGeom prst="rect">
            <a:avLst/>
          </a:prstGeom>
        </p:spPr>
      </p:pic>
      <p:sp>
        <p:nvSpPr>
          <p:cNvPr id="36" name="Text 9"/>
          <p:cNvSpPr/>
          <p:nvPr/>
        </p:nvSpPr>
        <p:spPr>
          <a:xfrm>
            <a:off x="5264785" y="2007870"/>
            <a:ext cx="6477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召回流程可视化</a:t>
            </a:r>
            <a:endParaRPr lang="en-US" sz="1350" dirty="0"/>
          </a:p>
        </p:txBody>
      </p:sp>
      <p:sp>
        <p:nvSpPr>
          <p:cNvPr id="37" name="Text 10"/>
          <p:cNvSpPr/>
          <p:nvPr/>
        </p:nvSpPr>
        <p:spPr>
          <a:xfrm>
            <a:off x="5264785" y="2960370"/>
            <a:ext cx="15621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问题发现</a:t>
            </a:r>
            <a:endParaRPr lang="en-US" sz="1050" dirty="0"/>
          </a:p>
        </p:txBody>
      </p:sp>
      <p:sp>
        <p:nvSpPr>
          <p:cNvPr id="38" name="Text 11"/>
          <p:cNvSpPr/>
          <p:nvPr/>
        </p:nvSpPr>
        <p:spPr>
          <a:xfrm>
            <a:off x="8541385" y="2960370"/>
            <a:ext cx="15621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精准定位</a:t>
            </a:r>
            <a:endParaRPr lang="en-US" sz="1050" dirty="0"/>
          </a:p>
        </p:txBody>
      </p:sp>
      <p:sp>
        <p:nvSpPr>
          <p:cNvPr id="39" name="Text 12"/>
          <p:cNvSpPr/>
          <p:nvPr/>
        </p:nvSpPr>
        <p:spPr>
          <a:xfrm>
            <a:off x="5264785" y="3760470"/>
            <a:ext cx="15621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高效回收</a:t>
            </a:r>
            <a:endParaRPr lang="en-US" sz="1050" dirty="0"/>
          </a:p>
        </p:txBody>
      </p:sp>
      <p:sp>
        <p:nvSpPr>
          <p:cNvPr id="40" name="Text 13"/>
          <p:cNvSpPr/>
          <p:nvPr/>
        </p:nvSpPr>
        <p:spPr>
          <a:xfrm>
            <a:off x="8541385" y="3760470"/>
            <a:ext cx="15621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完成召回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190" y="5513070"/>
            <a:ext cx="6910070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685" y="1362075"/>
            <a:ext cx="257175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5685" y="1781175"/>
            <a:ext cx="1803350" cy="800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9985" y="1895475"/>
            <a:ext cx="200025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3335" y="1781175"/>
            <a:ext cx="1803350" cy="800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7635" y="1895475"/>
            <a:ext cx="257175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0986" y="1781175"/>
            <a:ext cx="1803350" cy="800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5286" y="1895475"/>
            <a:ext cx="2857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75685" y="2695575"/>
            <a:ext cx="1803350" cy="800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89985" y="2809875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93335" y="2695575"/>
            <a:ext cx="1803350" cy="800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07635" y="2809875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10986" y="2695575"/>
            <a:ext cx="1803350" cy="800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5286" y="2809875"/>
            <a:ext cx="257175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75685" y="3609975"/>
            <a:ext cx="1803350" cy="8001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89985" y="3724275"/>
            <a:ext cx="2286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93335" y="3609975"/>
            <a:ext cx="1803350" cy="8001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607635" y="3724275"/>
            <a:ext cx="228600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10986" y="3609975"/>
            <a:ext cx="1803350" cy="8001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25286" y="3724275"/>
            <a:ext cx="257175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790190" y="4618990"/>
            <a:ext cx="6962140" cy="7620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381000" y="209550"/>
            <a:ext cx="30861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适用行业</a:t>
            </a:r>
            <a:endParaRPr lang="en-US" sz="2250" dirty="0"/>
          </a:p>
        </p:txBody>
      </p:sp>
      <p:sp>
        <p:nvSpPr>
          <p:cNvPr id="31" name="Text 2"/>
          <p:cNvSpPr/>
          <p:nvPr/>
        </p:nvSpPr>
        <p:spPr>
          <a:xfrm>
            <a:off x="2942590" y="5665470"/>
            <a:ext cx="6787515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这套基于区块链的全链路</a:t>
            </a:r>
            <a:r>
              <a:rPr lang="zh-CN" altLang="en-US" sz="120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溯源</a:t>
            </a:r>
            <a:r>
              <a:rPr lang="en-US" sz="120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系统，不仅是一个工具，更是一项战略性投资，将为您带来前所未有的巨大回报！</a:t>
            </a:r>
            <a:endParaRPr lang="en-US" sz="1200" dirty="0"/>
          </a:p>
        </p:txBody>
      </p:sp>
      <p:sp>
        <p:nvSpPr>
          <p:cNvPr id="32" name="Text 3"/>
          <p:cNvSpPr/>
          <p:nvPr/>
        </p:nvSpPr>
        <p:spPr>
          <a:xfrm>
            <a:off x="3947160" y="1323975"/>
            <a:ext cx="5638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适用行业</a:t>
            </a:r>
            <a:endParaRPr lang="en-US" sz="1800" dirty="0"/>
          </a:p>
        </p:txBody>
      </p:sp>
      <p:sp>
        <p:nvSpPr>
          <p:cNvPr id="33" name="Text 4"/>
          <p:cNvSpPr/>
          <p:nvPr/>
        </p:nvSpPr>
        <p:spPr>
          <a:xfrm>
            <a:off x="4004310" y="1933575"/>
            <a:ext cx="7315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食品行业</a:t>
            </a:r>
            <a:endParaRPr lang="en-US" sz="1200" dirty="0"/>
          </a:p>
        </p:txBody>
      </p:sp>
      <p:sp>
        <p:nvSpPr>
          <p:cNvPr id="34" name="Text 5"/>
          <p:cNvSpPr/>
          <p:nvPr/>
        </p:nvSpPr>
        <p:spPr>
          <a:xfrm>
            <a:off x="3689985" y="2276475"/>
            <a:ext cx="18897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从农场到餐桌，全程透明</a:t>
            </a:r>
            <a:endParaRPr lang="en-US" sz="1050" dirty="0"/>
          </a:p>
        </p:txBody>
      </p:sp>
      <p:sp>
        <p:nvSpPr>
          <p:cNvPr id="35" name="Text 6"/>
          <p:cNvSpPr/>
          <p:nvPr/>
        </p:nvSpPr>
        <p:spPr>
          <a:xfrm>
            <a:off x="5979110" y="1933575"/>
            <a:ext cx="7315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医药行业</a:t>
            </a:r>
            <a:endParaRPr lang="en-US" sz="1200" dirty="0"/>
          </a:p>
        </p:txBody>
      </p:sp>
      <p:sp>
        <p:nvSpPr>
          <p:cNvPr id="36" name="Text 7"/>
          <p:cNvSpPr/>
          <p:nvPr/>
        </p:nvSpPr>
        <p:spPr>
          <a:xfrm>
            <a:off x="5607635" y="2276475"/>
            <a:ext cx="18897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药品全生命周期管理</a:t>
            </a:r>
            <a:endParaRPr lang="en-US" sz="1050" dirty="0"/>
          </a:p>
        </p:txBody>
      </p:sp>
      <p:sp>
        <p:nvSpPr>
          <p:cNvPr id="37" name="Text 8"/>
          <p:cNvSpPr/>
          <p:nvPr/>
        </p:nvSpPr>
        <p:spPr>
          <a:xfrm>
            <a:off x="7925336" y="1933575"/>
            <a:ext cx="5486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工业品</a:t>
            </a:r>
            <a:endParaRPr lang="en-US" sz="1200" dirty="0"/>
          </a:p>
        </p:txBody>
      </p:sp>
      <p:sp>
        <p:nvSpPr>
          <p:cNvPr id="38" name="Text 9"/>
          <p:cNvSpPr/>
          <p:nvPr/>
        </p:nvSpPr>
        <p:spPr>
          <a:xfrm>
            <a:off x="7525286" y="2276475"/>
            <a:ext cx="18897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零部件溯源，质量管控</a:t>
            </a:r>
            <a:endParaRPr lang="en-US" sz="1050" dirty="0"/>
          </a:p>
        </p:txBody>
      </p:sp>
      <p:sp>
        <p:nvSpPr>
          <p:cNvPr id="39" name="Text 10"/>
          <p:cNvSpPr/>
          <p:nvPr/>
        </p:nvSpPr>
        <p:spPr>
          <a:xfrm>
            <a:off x="4032885" y="2847975"/>
            <a:ext cx="5486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奢侈品</a:t>
            </a:r>
            <a:endParaRPr lang="en-US" sz="1200" dirty="0"/>
          </a:p>
        </p:txBody>
      </p:sp>
      <p:sp>
        <p:nvSpPr>
          <p:cNvPr id="40" name="Text 11"/>
          <p:cNvSpPr/>
          <p:nvPr/>
        </p:nvSpPr>
        <p:spPr>
          <a:xfrm>
            <a:off x="3689985" y="3190875"/>
            <a:ext cx="18897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真伪验证，品牌保护</a:t>
            </a:r>
            <a:endParaRPr lang="en-US" sz="1050" dirty="0"/>
          </a:p>
        </p:txBody>
      </p:sp>
      <p:sp>
        <p:nvSpPr>
          <p:cNvPr id="41" name="Text 12"/>
          <p:cNvSpPr/>
          <p:nvPr/>
        </p:nvSpPr>
        <p:spPr>
          <a:xfrm>
            <a:off x="5950535" y="2847975"/>
            <a:ext cx="5486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农产品</a:t>
            </a:r>
            <a:endParaRPr lang="en-US" sz="1200" dirty="0"/>
          </a:p>
        </p:txBody>
      </p:sp>
      <p:sp>
        <p:nvSpPr>
          <p:cNvPr id="42" name="Text 13"/>
          <p:cNvSpPr/>
          <p:nvPr/>
        </p:nvSpPr>
        <p:spPr>
          <a:xfrm>
            <a:off x="5607635" y="3190875"/>
            <a:ext cx="18897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产地溯源，品质保证</a:t>
            </a:r>
            <a:endParaRPr lang="en-US" sz="1050" dirty="0"/>
          </a:p>
        </p:txBody>
      </p:sp>
      <p:sp>
        <p:nvSpPr>
          <p:cNvPr id="43" name="Text 14"/>
          <p:cNvSpPr/>
          <p:nvPr/>
        </p:nvSpPr>
        <p:spPr>
          <a:xfrm>
            <a:off x="7896761" y="2847975"/>
            <a:ext cx="5486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水产品</a:t>
            </a:r>
            <a:endParaRPr lang="en-US" sz="1200" dirty="0"/>
          </a:p>
        </p:txBody>
      </p:sp>
      <p:sp>
        <p:nvSpPr>
          <p:cNvPr id="44" name="Text 15"/>
          <p:cNvSpPr/>
          <p:nvPr/>
        </p:nvSpPr>
        <p:spPr>
          <a:xfrm>
            <a:off x="7525286" y="3190875"/>
            <a:ext cx="18897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捕捞到销售，全程监控</a:t>
            </a:r>
            <a:endParaRPr lang="en-US" sz="1050" dirty="0"/>
          </a:p>
        </p:txBody>
      </p:sp>
      <p:sp>
        <p:nvSpPr>
          <p:cNvPr id="45" name="Text 16"/>
          <p:cNvSpPr/>
          <p:nvPr/>
        </p:nvSpPr>
        <p:spPr>
          <a:xfrm>
            <a:off x="4032885" y="3762375"/>
            <a:ext cx="5486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乳制品</a:t>
            </a:r>
            <a:endParaRPr lang="en-US" sz="1200" dirty="0"/>
          </a:p>
        </p:txBody>
      </p:sp>
      <p:sp>
        <p:nvSpPr>
          <p:cNvPr id="46" name="Text 17"/>
          <p:cNvSpPr/>
          <p:nvPr/>
        </p:nvSpPr>
        <p:spPr>
          <a:xfrm>
            <a:off x="3689985" y="4105275"/>
            <a:ext cx="18897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牧场到消费者，品质可控</a:t>
            </a:r>
            <a:endParaRPr lang="en-US" sz="1050" dirty="0"/>
          </a:p>
        </p:txBody>
      </p:sp>
      <p:sp>
        <p:nvSpPr>
          <p:cNvPr id="47" name="Text 18"/>
          <p:cNvSpPr/>
          <p:nvPr/>
        </p:nvSpPr>
        <p:spPr>
          <a:xfrm>
            <a:off x="5950535" y="3762375"/>
            <a:ext cx="7315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电子产品</a:t>
            </a:r>
            <a:endParaRPr lang="en-US" sz="1200" dirty="0"/>
          </a:p>
        </p:txBody>
      </p:sp>
      <p:sp>
        <p:nvSpPr>
          <p:cNvPr id="48" name="Text 19"/>
          <p:cNvSpPr/>
          <p:nvPr/>
        </p:nvSpPr>
        <p:spPr>
          <a:xfrm>
            <a:off x="5607635" y="4105275"/>
            <a:ext cx="18897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零配件溯源，售后服务</a:t>
            </a:r>
            <a:endParaRPr lang="en-US" sz="1050" dirty="0"/>
          </a:p>
        </p:txBody>
      </p:sp>
      <p:sp>
        <p:nvSpPr>
          <p:cNvPr id="49" name="Text 20"/>
          <p:cNvSpPr/>
          <p:nvPr/>
        </p:nvSpPr>
        <p:spPr>
          <a:xfrm>
            <a:off x="7896761" y="3762375"/>
            <a:ext cx="5486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化妆品</a:t>
            </a:r>
            <a:endParaRPr lang="en-US" sz="1200" dirty="0"/>
          </a:p>
        </p:txBody>
      </p:sp>
      <p:sp>
        <p:nvSpPr>
          <p:cNvPr id="50" name="Text 21"/>
          <p:cNvSpPr/>
          <p:nvPr/>
        </p:nvSpPr>
        <p:spPr>
          <a:xfrm>
            <a:off x="7525286" y="4105275"/>
            <a:ext cx="18897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原料溯源，安全保障</a:t>
            </a:r>
            <a:endParaRPr lang="en-US" sz="1050" dirty="0"/>
          </a:p>
        </p:txBody>
      </p:sp>
      <p:sp>
        <p:nvSpPr>
          <p:cNvPr id="51" name="Text 22"/>
          <p:cNvSpPr/>
          <p:nvPr/>
        </p:nvSpPr>
        <p:spPr>
          <a:xfrm>
            <a:off x="2942590" y="4771390"/>
            <a:ext cx="6684645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无论您身处何方，只要您的产品需要被信任、需要</a:t>
            </a:r>
            <a:r>
              <a:rPr lang="zh-CN" altLang="en-US" sz="120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溯源</a:t>
            </a:r>
            <a:r>
              <a:rPr lang="en-US" sz="1200" dirty="0">
                <a:solidFill>
                  <a:srgbClr val="37415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，这套系统就是为您量身定制的"金钥匙"！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" y="0"/>
            <a:ext cx="12192000" cy="76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425700"/>
            <a:ext cx="3708350" cy="1409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65430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1750" y="2425700"/>
            <a:ext cx="3708350" cy="1409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0350" y="2654300"/>
            <a:ext cx="2857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8701" y="2425700"/>
            <a:ext cx="3708499" cy="1409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7301" y="2654300"/>
            <a:ext cx="285750" cy="3429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81000" y="209550"/>
            <a:ext cx="30861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立即行动，赢得</a:t>
            </a:r>
            <a:r>
              <a:rPr lang="zh-CN" altLang="en-US" sz="225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未来</a:t>
            </a:r>
            <a:endParaRPr lang="zh-CN" altLang="en-US" sz="2250" b="1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7" name="Text 2"/>
          <p:cNvSpPr/>
          <p:nvPr/>
        </p:nvSpPr>
        <p:spPr>
          <a:xfrm>
            <a:off x="1676400" y="1338580"/>
            <a:ext cx="834707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zh-CN" altLang="en-US" sz="13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愿</a:t>
            </a:r>
            <a:r>
              <a:rPr lang="en-US" sz="13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这套基于区块链的全链路溯源系统，</a:t>
            </a:r>
            <a:r>
              <a:rPr lang="zh-CN" altLang="en-US" sz="13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成为</a:t>
            </a:r>
            <a:r>
              <a:rPr lang="en-US" sz="135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您提升品牌价值、赢得市场竞争的"秘密武器"！</a:t>
            </a:r>
            <a:endParaRPr lang="en-US" sz="1350" dirty="0"/>
          </a:p>
        </p:txBody>
      </p:sp>
      <p:sp>
        <p:nvSpPr>
          <p:cNvPr id="18" name="Text 3"/>
          <p:cNvSpPr/>
          <p:nvPr/>
        </p:nvSpPr>
        <p:spPr>
          <a:xfrm>
            <a:off x="971550" y="2692400"/>
            <a:ext cx="914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领先一步</a:t>
            </a:r>
            <a:endParaRPr lang="en-US" sz="1500" dirty="0"/>
          </a:p>
        </p:txBody>
      </p:sp>
      <p:sp>
        <p:nvSpPr>
          <p:cNvPr id="19" name="Text 4"/>
          <p:cNvSpPr/>
          <p:nvPr/>
        </p:nvSpPr>
        <p:spPr>
          <a:xfrm>
            <a:off x="533400" y="3149600"/>
            <a:ext cx="32511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让您的企业领先一步，赢得未来！在激烈的市场竞争中脱颖而出，成为行业标杆！</a:t>
            </a:r>
            <a:endParaRPr lang="en-US" sz="1200" dirty="0"/>
          </a:p>
        </p:txBody>
      </p:sp>
      <p:sp>
        <p:nvSpPr>
          <p:cNvPr id="20" name="Text 5"/>
          <p:cNvSpPr/>
          <p:nvPr/>
        </p:nvSpPr>
        <p:spPr>
          <a:xfrm>
            <a:off x="4908500" y="2692400"/>
            <a:ext cx="914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赢得信任</a:t>
            </a:r>
            <a:endParaRPr lang="en-US" sz="1500" dirty="0"/>
          </a:p>
        </p:txBody>
      </p:sp>
      <p:sp>
        <p:nvSpPr>
          <p:cNvPr id="21" name="Text 6"/>
          <p:cNvSpPr/>
          <p:nvPr/>
        </p:nvSpPr>
        <p:spPr>
          <a:xfrm>
            <a:off x="4470350" y="3149600"/>
            <a:ext cx="32511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赋予您的产品"透明的灵魂"，让消费者对您充满信心，让监管机构对您赞不绝口！</a:t>
            </a:r>
            <a:endParaRPr lang="en-US" sz="1200" dirty="0"/>
          </a:p>
        </p:txBody>
      </p:sp>
      <p:sp>
        <p:nvSpPr>
          <p:cNvPr id="22" name="Text 7"/>
          <p:cNvSpPr/>
          <p:nvPr/>
        </p:nvSpPr>
        <p:spPr>
          <a:xfrm>
            <a:off x="8845451" y="2692400"/>
            <a:ext cx="914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价值跃升</a:t>
            </a:r>
            <a:endParaRPr lang="en-US" sz="1500" dirty="0"/>
          </a:p>
        </p:txBody>
      </p:sp>
      <p:sp>
        <p:nvSpPr>
          <p:cNvPr id="23" name="Text 8"/>
          <p:cNvSpPr/>
          <p:nvPr/>
        </p:nvSpPr>
        <p:spPr>
          <a:xfrm>
            <a:off x="8407301" y="3149600"/>
            <a:ext cx="3251299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品牌价值提升，数据成为最可信的"数字资产"，为企业创造无限可能！</a:t>
            </a:r>
            <a:endParaRPr lang="en-US" sz="1200" dirty="0"/>
          </a:p>
        </p:txBody>
      </p:sp>
      <p:sp>
        <p:nvSpPr>
          <p:cNvPr id="25" name="Text 10"/>
          <p:cNvSpPr/>
          <p:nvPr/>
        </p:nvSpPr>
        <p:spPr>
          <a:xfrm>
            <a:off x="3483610" y="5179060"/>
            <a:ext cx="564134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cene3d>
              <a:camera prst="orthographicFront"/>
              <a:lightRig rig="threePt" dir="t"/>
            </a:scene3d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让我们携手，共同开启一个全新的、充满信任与机遇的商业时代！</a:t>
            </a:r>
            <a:endParaRPr lang="en-US" sz="135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10612755" y="6065520"/>
            <a:ext cx="114935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行文科技</a:t>
            </a:r>
            <a:endParaRPr lang="zh-CN" altLang="en-US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1894</Words>
  <Application>WPS Presentation</Application>
  <PresentationFormat>On-screen Show (16:9)</PresentationFormat>
  <Paragraphs>256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7" baseType="lpstr">
      <vt:lpstr>Arial</vt:lpstr>
      <vt:lpstr>宋体</vt:lpstr>
      <vt:lpstr>Wingdings</vt:lpstr>
      <vt:lpstr>ui-sans-serif</vt:lpstr>
      <vt:lpstr>苹方-简</vt:lpstr>
      <vt:lpstr>ui-sans-serif</vt:lpstr>
      <vt:lpstr>ui-sans-serif</vt:lpstr>
      <vt:lpstr>Arial</vt:lpstr>
      <vt:lpstr>Arial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WPS_1752977053</cp:lastModifiedBy>
  <cp:revision>11</cp:revision>
  <dcterms:created xsi:type="dcterms:W3CDTF">2025-11-11T11:40:23Z</dcterms:created>
  <dcterms:modified xsi:type="dcterms:W3CDTF">2025-11-11T11:40:23Z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1D2A602B99B2C4E6061B13695AD05FE9_42</vt:lpwstr>
  </property>
  <property fmtid="{D5CDD505-2E9C-101B-9397-08002B2CF9AE}" pid="3" name="KSOProductBuildVer">
    <vt:lpwstr>1033-12.1.21861.21861</vt:lpwstr>
  </property>
</Properties>
</file>